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Microsoft YaHei" panose="020B0503020204020204" pitchFamily="34" charset="-122"/>
      <p:regular r:id="rId9"/>
      <p:bold r:id="rId10"/>
    </p:embeddedFont>
    <p:embeddedFont>
      <p:font typeface="Heebo Light" pitchFamily="2" charset="-79"/>
      <p:regular r:id="rId11"/>
    </p:embeddedFont>
    <p:embeddedFont>
      <p:font typeface="Microsoft Sans Serif" panose="020B0604020202020204" pitchFamily="34" charset="0"/>
      <p:regular r:id="rId12"/>
    </p:embeddedFont>
    <p:embeddedFont>
      <p:font typeface="Montserrat" panose="00000500000000000000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04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45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“The City Moves. The Signals Don’t.”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330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Urban traffic is dynamic; signals are not. Fixed timers give equal green time to unequal demand.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146176"/>
            <a:ext cx="2290465" cy="2562746"/>
          </a:xfrm>
          <a:prstGeom prst="roundRect">
            <a:avLst>
              <a:gd name="adj" fmla="val 260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71640" y="2292697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Consequences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599209"/>
            <a:ext cx="1997422" cy="196319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Long waits and stop‑start traffic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Fuel wastage and higher emissions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Delayed emergency response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Congestion cascades across nearby intersections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146176"/>
            <a:ext cx="2290539" cy="2562746"/>
          </a:xfrm>
          <a:prstGeom prst="roundRect">
            <a:avLst>
              <a:gd name="adj" fmla="val 259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03863" y="2292697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Problem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599209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don't lack traffic signals. We lack traffic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063" y="143616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Meet Raahi — Traffic That Thinks Ahead.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2" y="528120"/>
            <a:ext cx="7792715" cy="2446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765" y="632844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 Feed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5133" y="640644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Detection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02667" y="2686465"/>
            <a:ext cx="14265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2103" y="2579198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Optimization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39462" y="3086044"/>
            <a:ext cx="86089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Don't just detect traffic. Understand it. Predict it. Act on it. Learn from every intersection.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73" y="3431265"/>
            <a:ext cx="868822" cy="632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7230" y="3437418"/>
            <a:ext cx="1118850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— SEE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47228" y="3637815"/>
            <a:ext cx="1241423" cy="219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cameras detect and count vehicles in real time.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479" y="3430185"/>
            <a:ext cx="1086022" cy="633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88594" y="3431265"/>
            <a:ext cx="150085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— UNDERSTAND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288594" y="3637661"/>
            <a:ext cx="1500857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Analyze density, flow vectors and intersection state.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645" y="3438825"/>
            <a:ext cx="1011069" cy="6248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31252" y="3456148"/>
            <a:ext cx="150085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— PREDICT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532653" y="3647194"/>
            <a:ext cx="1500857" cy="416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emerging jams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before they form.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103" y="4275222"/>
            <a:ext cx="995918" cy="6154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936403" y="4291283"/>
            <a:ext cx="150085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— ACT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936403" y="4497833"/>
            <a:ext cx="1578790" cy="35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Dynamically optimize signal timings to demand.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2387" y="4237238"/>
            <a:ext cx="1066223" cy="65889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30469" y="4237238"/>
            <a:ext cx="150078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— LEARN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052275" y="4459581"/>
            <a:ext cx="150078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Historical patterns refine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future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65" y="157673"/>
            <a:ext cx="8219218" cy="45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The Intelligence Behind Raahi</a:t>
            </a:r>
            <a:endParaRPr lang="en-US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9" y="630765"/>
            <a:ext cx="4403931" cy="2640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9802" y="2723964"/>
            <a:ext cx="1956218" cy="26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Engine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299802" y="2115686"/>
            <a:ext cx="2263515" cy="26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Engine</a:t>
            </a:r>
            <a:endParaRPr lang="en-US" b="1" dirty="0"/>
          </a:p>
        </p:txBody>
      </p:sp>
      <p:sp>
        <p:nvSpPr>
          <p:cNvPr id="6" name="Text 3"/>
          <p:cNvSpPr/>
          <p:nvPr/>
        </p:nvSpPr>
        <p:spPr>
          <a:xfrm>
            <a:off x="299803" y="1536709"/>
            <a:ext cx="1834102" cy="255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Computer Vision</a:t>
            </a:r>
            <a:endParaRPr lang="en-US" b="1" dirty="0"/>
          </a:p>
        </p:txBody>
      </p:sp>
      <p:sp>
        <p:nvSpPr>
          <p:cNvPr id="7" name="Text 4"/>
          <p:cNvSpPr/>
          <p:nvPr/>
        </p:nvSpPr>
        <p:spPr>
          <a:xfrm>
            <a:off x="299804" y="883154"/>
            <a:ext cx="2263514" cy="326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268808" y="3246257"/>
            <a:ext cx="4625479" cy="45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2F0F4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Tech Highlights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1313" y="3699895"/>
            <a:ext cx="8005761" cy="377279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Computer vision: YOLO + OpenCV for robust multi-vehicle detection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models: real‑time prediction of congestion hotspots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Decision engine: optimization loop for signal timings and priority</a:t>
            </a:r>
            <a:endParaRPr lang="en-US" sz="14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Infrastructure: FastAPI for edge control, Firebase for telemetry, Flutter/React for dashboards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647" y="820897"/>
            <a:ext cx="3989412" cy="2260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6119" y="6588249"/>
            <a:ext cx="8151763" cy="187747"/>
          </a:xfrm>
          <a:prstGeom prst="roundRect">
            <a:avLst>
              <a:gd name="adj" fmla="val 15857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61" y="6641381"/>
            <a:ext cx="88553" cy="70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356" y="6641381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Computer Vision + AI Prediction + Adaptive Control = Intelligent Traffic Management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149871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From Reactive Signals to Predictive Intersections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554" y="709873"/>
            <a:ext cx="1983141" cy="752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0600" y="748163"/>
            <a:ext cx="342865" cy="159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3921" y="913693"/>
            <a:ext cx="18162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Demand‑Based Signals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33921" y="1095970"/>
            <a:ext cx="175957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Green time allocated by measured vehicle demand, not preset timers.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2169" y="709872"/>
            <a:ext cx="1977033" cy="7529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80606" y="738950"/>
            <a:ext cx="345520" cy="159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642536" y="914346"/>
            <a:ext cx="18162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Before the Jam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642536" y="1076514"/>
            <a:ext cx="1837634" cy="194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Early detection of congestion build-up enables preemptive adjustments.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53" y="1628711"/>
            <a:ext cx="1976958" cy="7158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4901" y="1689453"/>
            <a:ext cx="394262" cy="138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3920" y="1865617"/>
            <a:ext cx="18162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Intersection Intelligence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33921" y="2024366"/>
            <a:ext cx="18162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Local decisions with network-level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coordination.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966" y="1630902"/>
            <a:ext cx="1977033" cy="7136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47014" y="1652453"/>
            <a:ext cx="472936" cy="184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2669233" y="1854522"/>
            <a:ext cx="18162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2669233" y="2016872"/>
            <a:ext cx="18162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Models improve from historical and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edge data.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97113"/>
            <a:ext cx="3989412" cy="7136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380338" y="2550300"/>
            <a:ext cx="220973" cy="106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15166" y="2695748"/>
            <a:ext cx="3828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Emergency‑Ready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15166" y="2888584"/>
            <a:ext cx="3828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Priority routing for ambulances and first responders.</a:t>
            </a:r>
            <a:endParaRPr lang="en-US" sz="8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219" y="555537"/>
            <a:ext cx="4377840" cy="436123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-121798" y="3579544"/>
            <a:ext cx="5116985" cy="6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“We are not replacing traffic lights.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giving them intelligence.”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254" y="20607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One Smart Intersection Can Influence an Entire City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13" y="701674"/>
            <a:ext cx="783327" cy="819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6692" y="712164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Commuters</a:t>
            </a:r>
            <a:endParaRPr lang="en-US" sz="1200" b="1" dirty="0"/>
          </a:p>
        </p:txBody>
      </p:sp>
      <p:sp>
        <p:nvSpPr>
          <p:cNvPr id="5" name="Text 2"/>
          <p:cNvSpPr/>
          <p:nvPr/>
        </p:nvSpPr>
        <p:spPr>
          <a:xfrm>
            <a:off x="1156692" y="969616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Less waiting,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Smoother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journeys.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082" y="712164"/>
            <a:ext cx="783327" cy="8198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6961" y="712164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Police</a:t>
            </a:r>
            <a:endParaRPr lang="en-US" sz="1200" b="1" dirty="0"/>
          </a:p>
        </p:txBody>
      </p:sp>
      <p:sp>
        <p:nvSpPr>
          <p:cNvPr id="8" name="Text 4"/>
          <p:cNvSpPr/>
          <p:nvPr/>
        </p:nvSpPr>
        <p:spPr>
          <a:xfrm>
            <a:off x="3306960" y="948984"/>
            <a:ext cx="1356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Real‑time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intelligence for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faster decisions.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12" y="1751872"/>
            <a:ext cx="783327" cy="8198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6692" y="1758306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City Authorities</a:t>
            </a:r>
            <a:endParaRPr lang="en-US" sz="1200" b="1" dirty="0"/>
          </a:p>
        </p:txBody>
      </p:sp>
      <p:sp>
        <p:nvSpPr>
          <p:cNvPr id="11" name="Text 6"/>
          <p:cNvSpPr/>
          <p:nvPr/>
        </p:nvSpPr>
        <p:spPr>
          <a:xfrm>
            <a:off x="1156691" y="2025230"/>
            <a:ext cx="1356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Data-driven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planning and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policy.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5082" y="1767778"/>
            <a:ext cx="783327" cy="8198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79650" y="1745679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</a:t>
            </a:r>
            <a:endParaRPr lang="en-US" sz="1200" b="1" dirty="0"/>
          </a:p>
        </p:txBody>
      </p:sp>
      <p:sp>
        <p:nvSpPr>
          <p:cNvPr id="14" name="Text 8"/>
          <p:cNvSpPr/>
          <p:nvPr/>
        </p:nvSpPr>
        <p:spPr>
          <a:xfrm>
            <a:off x="3262684" y="2142305"/>
            <a:ext cx="135627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Reduced intersection delays for critical response.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11" y="2802070"/>
            <a:ext cx="783327" cy="8661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56692" y="2840876"/>
            <a:ext cx="135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</a:t>
            </a:r>
            <a:endParaRPr lang="en-US" sz="1200" b="1" dirty="0"/>
          </a:p>
        </p:txBody>
      </p:sp>
      <p:sp>
        <p:nvSpPr>
          <p:cNvPr id="17" name="Text 10"/>
          <p:cNvSpPr/>
          <p:nvPr/>
        </p:nvSpPr>
        <p:spPr>
          <a:xfrm>
            <a:off x="1156692" y="3055171"/>
            <a:ext cx="135627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Less idling — lower fuel waste and emissions (potential impact).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734075" y="68231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</a:t>
            </a:r>
            <a:endParaRPr lang="en-US" sz="1100" b="1" dirty="0"/>
          </a:p>
        </p:txBody>
      </p:sp>
      <p:sp>
        <p:nvSpPr>
          <p:cNvPr id="19" name="Text 12"/>
          <p:cNvSpPr/>
          <p:nvPr/>
        </p:nvSpPr>
        <p:spPr>
          <a:xfrm>
            <a:off x="4734075" y="846013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Prototype → Single Junction → Multiple Junctions → City‑Wide AI Network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790" y="1122103"/>
            <a:ext cx="4375770" cy="395538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83217" y="4173884"/>
            <a:ext cx="4125113" cy="579760"/>
          </a:xfrm>
          <a:prstGeom prst="roundRect">
            <a:avLst>
              <a:gd name="adj" fmla="val 0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09" y="4219063"/>
            <a:ext cx="232781" cy="17224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982" y="4254879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Raahi turns daily firefight management into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proactive, data-driven traffic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504" y="284089"/>
            <a:ext cx="8151763" cy="484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ontserrat" pitchFamily="34" charset="-120"/>
              </a:rPr>
              <a:t>From Smart Signals to a Self‑Learning Traffic Network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67496" y="928464"/>
            <a:ext cx="14288" cy="2284140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86942" y="1030932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65028" y="928464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91881" y="928465"/>
            <a:ext cx="410692" cy="243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6119" y="961951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497" y="1181174"/>
            <a:ext cx="183888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Edge AI at one intersection — verify detection and control loop.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964" y="1554733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65028" y="1452265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01565" y="147053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61903" y="1485751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Junction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61902" y="1704975"/>
            <a:ext cx="152191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Deploy, measure KPIs (delay, queue length, priority success).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6942" y="2028304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65028" y="1925836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01565" y="1944105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119" y="1959322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Junctions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471" y="2178546"/>
            <a:ext cx="1698906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Coordinate neighboring intersections for corridor optimization.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9964" y="2501875"/>
            <a:ext cx="292373" cy="14288"/>
          </a:xfrm>
          <a:prstGeom prst="roundRect">
            <a:avLst>
              <a:gd name="adj" fmla="val 4999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65028" y="2399407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01565" y="2417676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95170" y="2399407"/>
            <a:ext cx="149125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City‑Wide Network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3746" y="2652117"/>
            <a:ext cx="152941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Digital twin, cross‑intersection learning, context‑aware predictions.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4878" y="1114914"/>
            <a:ext cx="410692" cy="50503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97875" y="1203721"/>
            <a:ext cx="362969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Corridor Intelligence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97875" y="1419969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Dynamic priority for life‑critical vehicles.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6288" y="1924674"/>
            <a:ext cx="427872" cy="3507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31738" y="1944105"/>
            <a:ext cx="362969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Context‑Aware AI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031738" y="2157699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 weather, accidents, events for better predictions.</a:t>
            </a:r>
            <a:endParaRPr lang="en-US" sz="10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6288" y="2611635"/>
            <a:ext cx="394803" cy="42368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14160" y="2616308"/>
            <a:ext cx="362969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IoT‑Powered Intersections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022949" y="2856957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Cameras + sensors + signals + AI for richer inputs.</a:t>
            </a:r>
            <a:endParaRPr lang="en-US" sz="1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4878" y="3340048"/>
            <a:ext cx="419282" cy="3642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22949" y="3381348"/>
            <a:ext cx="3629695" cy="24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Digital Twin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031738" y="3620881"/>
            <a:ext cx="362969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Simulate strategies and evaluate city‑scale impacts before rollout.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70528" y="3988493"/>
            <a:ext cx="3957042" cy="14288"/>
          </a:xfrm>
          <a:prstGeom prst="roundRect">
            <a:avLst>
              <a:gd name="adj" fmla="val 49998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429386" y="3843038"/>
            <a:ext cx="3957042" cy="567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“Raahi doesn't just manage traffic. It teaches the city how to move.”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530</Words>
  <Application>Microsoft Office PowerPoint</Application>
  <PresentationFormat>On-screen Show (16:9)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</vt:lpstr>
      <vt:lpstr>Microsoft YaHei</vt:lpstr>
      <vt:lpstr>Heebo Light</vt:lpstr>
      <vt:lpstr>Microsoft Sans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Bunny 🐰</cp:lastModifiedBy>
  <cp:revision>2</cp:revision>
  <dcterms:created xsi:type="dcterms:W3CDTF">2026-08-16T12:13:27Z</dcterms:created>
  <dcterms:modified xsi:type="dcterms:W3CDTF">2026-08-16T14:00:09Z</dcterms:modified>
</cp:coreProperties>
</file>